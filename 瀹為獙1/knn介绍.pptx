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73" r:id="rId5"/>
    <p:sldId id="274" r:id="rId6"/>
    <p:sldId id="275" r:id="rId7"/>
  </p:sldIdLst>
  <p:sldSz cx="12192000" cy="6858000"/>
  <p:notesSz cx="6858000" cy="9144000"/>
  <p:embeddedFontLst>
    <p:embeddedFont>
      <p:font typeface="Calibri" panose="020F0502020204030204" charset="0"/>
      <p:regular r:id="rId11"/>
    </p:embeddedFont>
  </p:embeddedFontLst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7A2A5"/>
    <a:srgbClr val="C1C8CE"/>
    <a:srgbClr val="CBB6B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7.xml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KNN </a:t>
            </a:r>
            <a:r>
              <a:rPr lang="zh-CN" altLang="en-US"/>
              <a:t>算法</a:t>
            </a:r>
            <a:r>
              <a:rPr lang="en-US" altLang="zh-CN"/>
              <a:t> —— </a:t>
            </a:r>
            <a:r>
              <a:rPr lang="zh-CN" altLang="en-US"/>
              <a:t>基础概念与核心思想</a:t>
            </a:r>
            <a:endParaRPr lang="zh-CN" altLang="en-US"/>
          </a:p>
          <a:p>
            <a:r>
              <a:rPr lang="en-US" altLang="zh-CN"/>
              <a:t>“</a:t>
            </a:r>
            <a:r>
              <a:rPr lang="zh-CN" altLang="en-US"/>
              <a:t>惰性学习</a:t>
            </a:r>
            <a:r>
              <a:rPr lang="en-US" altLang="zh-CN"/>
              <a:t>”</a:t>
            </a:r>
            <a:r>
              <a:rPr lang="zh-CN" altLang="en-US"/>
              <a:t>，</a:t>
            </a:r>
            <a:r>
              <a:rPr lang="en-US" altLang="zh-CN"/>
              <a:t>Lazy Learner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635"/>
            <a:ext cx="8502015" cy="35382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389" h="5572">
                <a:moveTo>
                  <a:pt x="12476" y="0"/>
                </a:moveTo>
                <a:cubicBezTo>
                  <a:pt x="13042" y="592"/>
                  <a:pt x="13389" y="1394"/>
                  <a:pt x="13389" y="2277"/>
                </a:cubicBezTo>
                <a:cubicBezTo>
                  <a:pt x="13389" y="4097"/>
                  <a:pt x="11914" y="5572"/>
                  <a:pt x="10094" y="5572"/>
                </a:cubicBezTo>
                <a:lnTo>
                  <a:pt x="929" y="5572"/>
                </a:lnTo>
                <a:cubicBezTo>
                  <a:pt x="606" y="5572"/>
                  <a:pt x="294" y="5526"/>
                  <a:pt x="0" y="5439"/>
                </a:cubicBezTo>
                <a:lnTo>
                  <a:pt x="0" y="0"/>
                </a:lnTo>
                <a:close/>
              </a:path>
            </a:pathLst>
          </a:custGeom>
          <a:solidFill>
            <a:srgbClr val="87A2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0" y="4407535"/>
            <a:ext cx="4916170" cy="2451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42" h="3861">
                <a:moveTo>
                  <a:pt x="0" y="55"/>
                </a:moveTo>
                <a:cubicBezTo>
                  <a:pt x="106" y="19"/>
                  <a:pt x="220" y="0"/>
                  <a:pt x="338" y="0"/>
                </a:cubicBezTo>
                <a:lnTo>
                  <a:pt x="6684" y="0"/>
                </a:lnTo>
                <a:cubicBezTo>
                  <a:pt x="7268" y="0"/>
                  <a:pt x="7742" y="474"/>
                  <a:pt x="7742" y="1058"/>
                </a:cubicBezTo>
                <a:lnTo>
                  <a:pt x="7742" y="3861"/>
                </a:lnTo>
                <a:lnTo>
                  <a:pt x="0" y="3861"/>
                </a:lnTo>
                <a:lnTo>
                  <a:pt x="0" y="55"/>
                </a:lnTo>
                <a:close/>
              </a:path>
            </a:pathLst>
          </a:custGeom>
          <a:solidFill>
            <a:srgbClr val="C1C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9382125" y="784860"/>
            <a:ext cx="2827020" cy="60744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52" h="9566">
                <a:moveTo>
                  <a:pt x="3812" y="0"/>
                </a:moveTo>
                <a:cubicBezTo>
                  <a:pt x="4030" y="0"/>
                  <a:pt x="4244" y="18"/>
                  <a:pt x="4452" y="53"/>
                </a:cubicBezTo>
                <a:lnTo>
                  <a:pt x="4452" y="9566"/>
                </a:lnTo>
                <a:lnTo>
                  <a:pt x="0" y="9566"/>
                </a:lnTo>
                <a:lnTo>
                  <a:pt x="0" y="3812"/>
                </a:lnTo>
                <a:cubicBezTo>
                  <a:pt x="0" y="1707"/>
                  <a:pt x="1707" y="0"/>
                  <a:pt x="3812" y="0"/>
                </a:cubicBezTo>
                <a:close/>
              </a:path>
            </a:pathLst>
          </a:custGeom>
          <a:solidFill>
            <a:srgbClr val="CBB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975043" y="538163"/>
            <a:ext cx="10240645" cy="5781675"/>
          </a:xfrm>
          <a:prstGeom prst="roundRect">
            <a:avLst>
              <a:gd name="adj" fmla="val 123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1051243" y="632778"/>
            <a:ext cx="10089515" cy="5592445"/>
          </a:xfrm>
          <a:prstGeom prst="roundRect">
            <a:avLst>
              <a:gd name="adj" fmla="val 12300"/>
            </a:avLst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433638" y="1089025"/>
            <a:ext cx="7323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KNN </a:t>
            </a:r>
            <a:r>
              <a:rPr lang="zh-CN" altLang="en-US" sz="32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算法</a:t>
            </a:r>
            <a:r>
              <a:rPr lang="en-US" altLang="zh-CN" sz="32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 —— </a:t>
            </a:r>
            <a:r>
              <a:rPr lang="zh-CN" altLang="en-US" sz="32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基础概念</a:t>
            </a:r>
            <a:endParaRPr lang="zh-CN" altLang="en-US" sz="3200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2265" y="1824990"/>
            <a:ext cx="658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什么是</a:t>
            </a:r>
            <a:r>
              <a:rPr lang="en-US" altLang="zh-CN" sz="2000"/>
              <a:t> K </a:t>
            </a:r>
            <a:r>
              <a:rPr lang="zh-CN" altLang="en-US" sz="2000"/>
              <a:t>近邻（</a:t>
            </a:r>
            <a:r>
              <a:rPr lang="en-US" altLang="zh-CN" sz="2000"/>
              <a:t>K-Nearest Neighbors, KNN</a:t>
            </a:r>
            <a:r>
              <a:rPr lang="zh-CN" altLang="en-US" sz="2000"/>
              <a:t>）？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612265" y="2300605"/>
            <a:ext cx="85020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1.</a:t>
            </a:r>
            <a:r>
              <a:rPr lang="zh-CN" altLang="en-US" b="1"/>
              <a:t>算法定位</a:t>
            </a:r>
            <a:endParaRPr lang="zh-CN" altLang="en-US" b="1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最简单的监督学习算法之一（同时支持分类与回归任务）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核心特点：无训练过程</a:t>
            </a:r>
            <a:r>
              <a:rPr lang="en-US" altLang="zh-CN"/>
              <a:t>（</a:t>
            </a:r>
            <a:r>
              <a:rPr lang="zh-CN" altLang="en-US"/>
              <a:t>区别于深度学习</a:t>
            </a:r>
            <a:r>
              <a:rPr lang="en-US" altLang="zh-CN"/>
              <a:t>）</a:t>
            </a:r>
            <a:r>
              <a:rPr lang="zh-CN" altLang="en-US"/>
              <a:t>，仅在预测时计算数据关联</a:t>
            </a: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b="1"/>
              <a:t>2. 核心思想</a:t>
            </a:r>
            <a:endParaRPr lang="zh-CN" altLang="en-US" b="1"/>
          </a:p>
          <a:p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物以类聚，人以群分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en-US" altLang="zh-CN"/>
              <a:t>—— </a:t>
            </a:r>
            <a:r>
              <a:rPr lang="zh-CN" altLang="en-US"/>
              <a:t>对新样本，找到数据集中与其</a:t>
            </a:r>
            <a:r>
              <a:rPr lang="en-US" altLang="zh-CN"/>
              <a:t> “</a:t>
            </a:r>
            <a:r>
              <a:rPr lang="zh-CN" altLang="en-US"/>
              <a:t>距离最近</a:t>
            </a:r>
            <a:r>
              <a:rPr lang="en-US" altLang="zh-CN"/>
              <a:t>” </a:t>
            </a:r>
            <a:r>
              <a:rPr lang="zh-CN" altLang="en-US"/>
              <a:t>的</a:t>
            </a:r>
            <a:r>
              <a:rPr lang="en-US" altLang="zh-CN"/>
              <a:t> K </a:t>
            </a:r>
            <a:r>
              <a:rPr lang="zh-CN" altLang="en-US"/>
              <a:t>个样本（近邻），通过这</a:t>
            </a:r>
            <a:r>
              <a:rPr lang="en-US" altLang="zh-CN"/>
              <a:t> K </a:t>
            </a:r>
            <a:r>
              <a:rPr lang="zh-CN" altLang="en-US"/>
              <a:t>个近邻的标签</a:t>
            </a:r>
            <a:r>
              <a:rPr lang="en-US" altLang="zh-CN"/>
              <a:t> / </a:t>
            </a:r>
            <a:r>
              <a:rPr lang="zh-CN" altLang="en-US"/>
              <a:t>数值，投票</a:t>
            </a:r>
            <a:r>
              <a:rPr lang="en-US" altLang="zh-CN"/>
              <a:t> / </a:t>
            </a:r>
            <a:r>
              <a:rPr lang="zh-CN" altLang="en-US"/>
              <a:t>平均得到新样本的预测结果。</a:t>
            </a: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b="1"/>
              <a:t>3.重要参数</a:t>
            </a:r>
            <a:endParaRPr lang="zh-CN" altLang="en-US" b="1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K </a:t>
            </a:r>
            <a:r>
              <a:rPr lang="zh-CN" altLang="en-US"/>
              <a:t>值：近邻数量（如</a:t>
            </a:r>
            <a:r>
              <a:rPr lang="en-US" altLang="zh-CN"/>
              <a:t> K=3</a:t>
            </a:r>
            <a:r>
              <a:rPr lang="zh-CN" altLang="en-US"/>
              <a:t>、</a:t>
            </a:r>
            <a:r>
              <a:rPr lang="en-US" altLang="zh-CN"/>
              <a:t>K=5</a:t>
            </a:r>
            <a:r>
              <a:rPr lang="zh-CN" altLang="en-US"/>
              <a:t>，需人工设定，影响预测结果）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距离度量：衡量样本相似度的标准（常用：欧氏距离、曼哈顿距离）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635"/>
            <a:ext cx="8502015" cy="35382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389" h="5572">
                <a:moveTo>
                  <a:pt x="12476" y="0"/>
                </a:moveTo>
                <a:cubicBezTo>
                  <a:pt x="13042" y="592"/>
                  <a:pt x="13389" y="1394"/>
                  <a:pt x="13389" y="2277"/>
                </a:cubicBezTo>
                <a:cubicBezTo>
                  <a:pt x="13389" y="4097"/>
                  <a:pt x="11914" y="5572"/>
                  <a:pt x="10094" y="5572"/>
                </a:cubicBezTo>
                <a:lnTo>
                  <a:pt x="929" y="5572"/>
                </a:lnTo>
                <a:cubicBezTo>
                  <a:pt x="606" y="5572"/>
                  <a:pt x="294" y="5526"/>
                  <a:pt x="0" y="5439"/>
                </a:cubicBezTo>
                <a:lnTo>
                  <a:pt x="0" y="0"/>
                </a:lnTo>
                <a:close/>
              </a:path>
            </a:pathLst>
          </a:custGeom>
          <a:solidFill>
            <a:srgbClr val="87A2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0" y="4407535"/>
            <a:ext cx="4916170" cy="2451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42" h="3861">
                <a:moveTo>
                  <a:pt x="0" y="55"/>
                </a:moveTo>
                <a:cubicBezTo>
                  <a:pt x="106" y="19"/>
                  <a:pt x="220" y="0"/>
                  <a:pt x="338" y="0"/>
                </a:cubicBezTo>
                <a:lnTo>
                  <a:pt x="6684" y="0"/>
                </a:lnTo>
                <a:cubicBezTo>
                  <a:pt x="7268" y="0"/>
                  <a:pt x="7742" y="474"/>
                  <a:pt x="7742" y="1058"/>
                </a:cubicBezTo>
                <a:lnTo>
                  <a:pt x="7742" y="3861"/>
                </a:lnTo>
                <a:lnTo>
                  <a:pt x="0" y="3861"/>
                </a:lnTo>
                <a:lnTo>
                  <a:pt x="0" y="55"/>
                </a:lnTo>
                <a:close/>
              </a:path>
            </a:pathLst>
          </a:custGeom>
          <a:solidFill>
            <a:srgbClr val="C1C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9382125" y="784860"/>
            <a:ext cx="2827020" cy="60744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52" h="9566">
                <a:moveTo>
                  <a:pt x="3812" y="0"/>
                </a:moveTo>
                <a:cubicBezTo>
                  <a:pt x="4030" y="0"/>
                  <a:pt x="4244" y="18"/>
                  <a:pt x="4452" y="53"/>
                </a:cubicBezTo>
                <a:lnTo>
                  <a:pt x="4452" y="9566"/>
                </a:lnTo>
                <a:lnTo>
                  <a:pt x="0" y="9566"/>
                </a:lnTo>
                <a:lnTo>
                  <a:pt x="0" y="3812"/>
                </a:lnTo>
                <a:cubicBezTo>
                  <a:pt x="0" y="1707"/>
                  <a:pt x="1707" y="0"/>
                  <a:pt x="3812" y="0"/>
                </a:cubicBezTo>
                <a:close/>
              </a:path>
            </a:pathLst>
          </a:custGeom>
          <a:solidFill>
            <a:srgbClr val="CBB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975043" y="538163"/>
            <a:ext cx="10240645" cy="5781675"/>
          </a:xfrm>
          <a:prstGeom prst="roundRect">
            <a:avLst>
              <a:gd name="adj" fmla="val 123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1051243" y="632778"/>
            <a:ext cx="10089515" cy="5592445"/>
          </a:xfrm>
          <a:prstGeom prst="roundRect">
            <a:avLst>
              <a:gd name="adj" fmla="val 12300"/>
            </a:avLst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433638" y="1089025"/>
            <a:ext cx="7323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核心流程与关键参数</a:t>
            </a:r>
            <a:endParaRPr lang="zh-CN" altLang="en-US" sz="3200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2265" y="1696720"/>
            <a:ext cx="658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KNN </a:t>
            </a:r>
            <a:r>
              <a:rPr lang="zh-CN" altLang="en-US" sz="2000"/>
              <a:t>如何工作？（以</a:t>
            </a:r>
            <a:r>
              <a:rPr lang="en-US" altLang="zh-CN" sz="2000"/>
              <a:t> “</a:t>
            </a:r>
            <a:r>
              <a:rPr lang="zh-CN" altLang="en-US" sz="2000"/>
              <a:t>分类任务</a:t>
            </a:r>
            <a:r>
              <a:rPr lang="en-US" altLang="zh-CN" sz="2000"/>
              <a:t>” </a:t>
            </a:r>
            <a:r>
              <a:rPr lang="zh-CN" altLang="en-US" sz="2000"/>
              <a:t>为例）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612265" y="2117090"/>
            <a:ext cx="7164705" cy="3999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三步核心流程</a:t>
            </a:r>
            <a:endParaRPr lang="zh-CN" altLang="en-US" sz="2000"/>
          </a:p>
          <a:p>
            <a:r>
              <a:rPr lang="en-US" altLang="zh-CN" b="1"/>
              <a:t>1.</a:t>
            </a:r>
            <a:r>
              <a:rPr lang="zh-CN" altLang="en-US" b="1"/>
              <a:t>数据准备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输入：带标签的训练数据集（如</a:t>
            </a:r>
            <a:r>
              <a:rPr lang="en-US" altLang="zh-CN"/>
              <a:t> “</a:t>
            </a:r>
            <a:r>
              <a:rPr lang="zh-CN" altLang="en-US"/>
              <a:t>特征</a:t>
            </a:r>
            <a:r>
              <a:rPr lang="en-US" altLang="zh-CN"/>
              <a:t> = </a:t>
            </a:r>
            <a:r>
              <a:rPr lang="zh-CN" altLang="en-US"/>
              <a:t>身高体重，标签</a:t>
            </a:r>
            <a:r>
              <a:rPr lang="en-US" altLang="zh-CN"/>
              <a:t> = </a:t>
            </a:r>
            <a:r>
              <a:rPr lang="zh-CN" altLang="en-US"/>
              <a:t>性别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预处理：对特征归一化（避免</a:t>
            </a:r>
            <a:r>
              <a:rPr lang="en-US" altLang="zh-CN"/>
              <a:t> “</a:t>
            </a:r>
            <a:r>
              <a:rPr lang="zh-CN" altLang="en-US"/>
              <a:t>量级大的特征主导距离计算</a:t>
            </a:r>
            <a:r>
              <a:rPr lang="en-US" altLang="zh-CN"/>
              <a:t>”</a:t>
            </a:r>
            <a:r>
              <a:rPr lang="zh-CN" altLang="en-US"/>
              <a:t>，如</a:t>
            </a:r>
            <a:r>
              <a:rPr lang="en-US" altLang="zh-CN"/>
              <a:t> “</a:t>
            </a:r>
            <a:r>
              <a:rPr lang="zh-CN" altLang="en-US"/>
              <a:t>身高（</a:t>
            </a:r>
            <a:r>
              <a:rPr lang="en-US" altLang="zh-CN"/>
              <a:t>cm</a:t>
            </a:r>
            <a:r>
              <a:rPr lang="zh-CN" altLang="en-US"/>
              <a:t>）</a:t>
            </a:r>
            <a:r>
              <a:rPr lang="en-US" altLang="zh-CN"/>
              <a:t>” </a:t>
            </a:r>
            <a:r>
              <a:rPr lang="zh-CN" altLang="en-US"/>
              <a:t>比</a:t>
            </a:r>
            <a:r>
              <a:rPr lang="en-US" altLang="zh-CN"/>
              <a:t> “</a:t>
            </a:r>
            <a:r>
              <a:rPr lang="zh-CN" altLang="en-US"/>
              <a:t>体重（</a:t>
            </a:r>
            <a:r>
              <a:rPr lang="en-US" altLang="zh-CN"/>
              <a:t>kg</a:t>
            </a:r>
            <a:r>
              <a:rPr lang="zh-CN" altLang="en-US"/>
              <a:t>）</a:t>
            </a:r>
            <a:r>
              <a:rPr lang="en-US" altLang="zh-CN"/>
              <a:t>” </a:t>
            </a:r>
            <a:r>
              <a:rPr lang="zh-CN" altLang="en-US"/>
              <a:t>影响更大）</a:t>
            </a:r>
            <a:endParaRPr lang="zh-CN" altLang="en-US"/>
          </a:p>
          <a:p>
            <a:endParaRPr lang="zh-CN" altLang="en-US"/>
          </a:p>
          <a:p>
            <a:r>
              <a:rPr lang="en-US" altLang="zh-CN" b="1"/>
              <a:t>2.</a:t>
            </a:r>
            <a:r>
              <a:rPr lang="zh-CN" altLang="en-US" b="1"/>
              <a:t>找近邻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对新样本，计算其与训练集中所有样本的距离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按距离从小到大排序，选取前</a:t>
            </a:r>
            <a:r>
              <a:rPr lang="en-US" altLang="zh-CN"/>
              <a:t> K </a:t>
            </a:r>
            <a:r>
              <a:rPr lang="zh-CN" altLang="en-US"/>
              <a:t>个样本作为</a:t>
            </a:r>
            <a:r>
              <a:rPr lang="en-US" altLang="zh-CN"/>
              <a:t> “</a:t>
            </a:r>
            <a:r>
              <a:rPr lang="zh-CN" altLang="en-US"/>
              <a:t>近邻</a:t>
            </a:r>
            <a:r>
              <a:rPr lang="en-US" altLang="zh-CN"/>
              <a:t>”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3.</a:t>
            </a:r>
            <a:r>
              <a:rPr lang="zh-CN" altLang="en-US" b="1"/>
              <a:t>做预测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分类任务：统计</a:t>
            </a:r>
            <a:r>
              <a:rPr lang="en-US" altLang="zh-CN"/>
              <a:t> K </a:t>
            </a:r>
            <a:r>
              <a:rPr lang="zh-CN" altLang="en-US"/>
              <a:t>个近邻的标签，投票选出最多的标签作为新样本类别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回归任务：计算</a:t>
            </a:r>
            <a:r>
              <a:rPr lang="en-US" altLang="zh-CN"/>
              <a:t> K </a:t>
            </a:r>
            <a:r>
              <a:rPr lang="zh-CN" altLang="en-US"/>
              <a:t>个近邻的数值，取平均值作为新样本预测值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635"/>
            <a:ext cx="8502015" cy="35382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389" h="5572">
                <a:moveTo>
                  <a:pt x="12476" y="0"/>
                </a:moveTo>
                <a:cubicBezTo>
                  <a:pt x="13042" y="592"/>
                  <a:pt x="13389" y="1394"/>
                  <a:pt x="13389" y="2277"/>
                </a:cubicBezTo>
                <a:cubicBezTo>
                  <a:pt x="13389" y="4097"/>
                  <a:pt x="11914" y="5572"/>
                  <a:pt x="10094" y="5572"/>
                </a:cubicBezTo>
                <a:lnTo>
                  <a:pt x="929" y="5572"/>
                </a:lnTo>
                <a:cubicBezTo>
                  <a:pt x="606" y="5572"/>
                  <a:pt x="294" y="5526"/>
                  <a:pt x="0" y="5439"/>
                </a:cubicBezTo>
                <a:lnTo>
                  <a:pt x="0" y="0"/>
                </a:lnTo>
                <a:close/>
              </a:path>
            </a:pathLst>
          </a:custGeom>
          <a:solidFill>
            <a:srgbClr val="87A2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0" y="4407535"/>
            <a:ext cx="4916170" cy="2451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42" h="3861">
                <a:moveTo>
                  <a:pt x="0" y="55"/>
                </a:moveTo>
                <a:cubicBezTo>
                  <a:pt x="106" y="19"/>
                  <a:pt x="220" y="0"/>
                  <a:pt x="338" y="0"/>
                </a:cubicBezTo>
                <a:lnTo>
                  <a:pt x="6684" y="0"/>
                </a:lnTo>
                <a:cubicBezTo>
                  <a:pt x="7268" y="0"/>
                  <a:pt x="7742" y="474"/>
                  <a:pt x="7742" y="1058"/>
                </a:cubicBezTo>
                <a:lnTo>
                  <a:pt x="7742" y="3861"/>
                </a:lnTo>
                <a:lnTo>
                  <a:pt x="0" y="3861"/>
                </a:lnTo>
                <a:lnTo>
                  <a:pt x="0" y="55"/>
                </a:lnTo>
                <a:close/>
              </a:path>
            </a:pathLst>
          </a:custGeom>
          <a:solidFill>
            <a:srgbClr val="C1C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9382125" y="784860"/>
            <a:ext cx="2827020" cy="60744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52" h="9566">
                <a:moveTo>
                  <a:pt x="3812" y="0"/>
                </a:moveTo>
                <a:cubicBezTo>
                  <a:pt x="4030" y="0"/>
                  <a:pt x="4244" y="18"/>
                  <a:pt x="4452" y="53"/>
                </a:cubicBezTo>
                <a:lnTo>
                  <a:pt x="4452" y="9566"/>
                </a:lnTo>
                <a:lnTo>
                  <a:pt x="0" y="9566"/>
                </a:lnTo>
                <a:lnTo>
                  <a:pt x="0" y="3812"/>
                </a:lnTo>
                <a:cubicBezTo>
                  <a:pt x="0" y="1707"/>
                  <a:pt x="1707" y="0"/>
                  <a:pt x="3812" y="0"/>
                </a:cubicBezTo>
                <a:close/>
              </a:path>
            </a:pathLst>
          </a:custGeom>
          <a:solidFill>
            <a:srgbClr val="CBB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975043" y="538163"/>
            <a:ext cx="10240645" cy="5781675"/>
          </a:xfrm>
          <a:prstGeom prst="roundRect">
            <a:avLst>
              <a:gd name="adj" fmla="val 123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1051243" y="632778"/>
            <a:ext cx="10089515" cy="5592445"/>
          </a:xfrm>
          <a:prstGeom prst="roundRect">
            <a:avLst>
              <a:gd name="adj" fmla="val 12300"/>
            </a:avLst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642870" y="784860"/>
            <a:ext cx="2516505" cy="252031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6116955" y="784860"/>
            <a:ext cx="2520000" cy="25200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2642870" y="3475990"/>
            <a:ext cx="2520000" cy="25200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6116955" y="3475990"/>
            <a:ext cx="2520000" cy="25200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642235" y="805815"/>
            <a:ext cx="2516505" cy="25012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642235" y="3475990"/>
            <a:ext cx="2516505" cy="25012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120765" y="784860"/>
            <a:ext cx="2516505" cy="25012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20765" y="3475990"/>
            <a:ext cx="2516505" cy="250126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635"/>
            <a:ext cx="8502015" cy="35382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389" h="5572">
                <a:moveTo>
                  <a:pt x="12476" y="0"/>
                </a:moveTo>
                <a:cubicBezTo>
                  <a:pt x="13042" y="592"/>
                  <a:pt x="13389" y="1394"/>
                  <a:pt x="13389" y="2277"/>
                </a:cubicBezTo>
                <a:cubicBezTo>
                  <a:pt x="13389" y="4097"/>
                  <a:pt x="11914" y="5572"/>
                  <a:pt x="10094" y="5572"/>
                </a:cubicBezTo>
                <a:lnTo>
                  <a:pt x="929" y="5572"/>
                </a:lnTo>
                <a:cubicBezTo>
                  <a:pt x="606" y="5572"/>
                  <a:pt x="294" y="5526"/>
                  <a:pt x="0" y="5439"/>
                </a:cubicBezTo>
                <a:lnTo>
                  <a:pt x="0" y="0"/>
                </a:lnTo>
                <a:close/>
              </a:path>
            </a:pathLst>
          </a:custGeom>
          <a:solidFill>
            <a:srgbClr val="87A2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0" y="4407535"/>
            <a:ext cx="4916170" cy="2451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42" h="3861">
                <a:moveTo>
                  <a:pt x="0" y="55"/>
                </a:moveTo>
                <a:cubicBezTo>
                  <a:pt x="106" y="19"/>
                  <a:pt x="220" y="0"/>
                  <a:pt x="338" y="0"/>
                </a:cubicBezTo>
                <a:lnTo>
                  <a:pt x="6684" y="0"/>
                </a:lnTo>
                <a:cubicBezTo>
                  <a:pt x="7268" y="0"/>
                  <a:pt x="7742" y="474"/>
                  <a:pt x="7742" y="1058"/>
                </a:cubicBezTo>
                <a:lnTo>
                  <a:pt x="7742" y="3861"/>
                </a:lnTo>
                <a:lnTo>
                  <a:pt x="0" y="3861"/>
                </a:lnTo>
                <a:lnTo>
                  <a:pt x="0" y="55"/>
                </a:lnTo>
                <a:close/>
              </a:path>
            </a:pathLst>
          </a:custGeom>
          <a:solidFill>
            <a:srgbClr val="C1C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9382125" y="784860"/>
            <a:ext cx="2827020" cy="60744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52" h="9566">
                <a:moveTo>
                  <a:pt x="3812" y="0"/>
                </a:moveTo>
                <a:cubicBezTo>
                  <a:pt x="4030" y="0"/>
                  <a:pt x="4244" y="18"/>
                  <a:pt x="4452" y="53"/>
                </a:cubicBezTo>
                <a:lnTo>
                  <a:pt x="4452" y="9566"/>
                </a:lnTo>
                <a:lnTo>
                  <a:pt x="0" y="9566"/>
                </a:lnTo>
                <a:lnTo>
                  <a:pt x="0" y="3812"/>
                </a:lnTo>
                <a:cubicBezTo>
                  <a:pt x="0" y="1707"/>
                  <a:pt x="1707" y="0"/>
                  <a:pt x="3812" y="0"/>
                </a:cubicBezTo>
                <a:close/>
              </a:path>
            </a:pathLst>
          </a:custGeom>
          <a:solidFill>
            <a:srgbClr val="CBB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975043" y="538163"/>
            <a:ext cx="10240645" cy="5781675"/>
          </a:xfrm>
          <a:prstGeom prst="roundRect">
            <a:avLst>
              <a:gd name="adj" fmla="val 123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1051243" y="632778"/>
            <a:ext cx="10089515" cy="5592445"/>
          </a:xfrm>
          <a:prstGeom prst="roundRect">
            <a:avLst>
              <a:gd name="adj" fmla="val 12300"/>
            </a:avLst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254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433638" y="1089025"/>
            <a:ext cx="7323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参数选择（影响算法效果）</a:t>
            </a:r>
            <a:endParaRPr lang="zh-CN" altLang="en-US" sz="3200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12265" y="1786255"/>
            <a:ext cx="716470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altLang="zh-CN" sz="2000" b="1"/>
              <a:t>K</a:t>
            </a:r>
            <a:r>
              <a:rPr lang="zh-CN" altLang="en-US" sz="2000" b="1"/>
              <a:t>值</a:t>
            </a:r>
            <a:r>
              <a:rPr lang="en-US" altLang="zh-CN" sz="2000" b="1"/>
              <a:t>：</a:t>
            </a:r>
            <a:endParaRPr lang="en-US" altLang="zh-CN" sz="2000" b="1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K </a:t>
            </a:r>
            <a:r>
              <a:rPr lang="zh-CN" altLang="en-US"/>
              <a:t>太小：易受</a:t>
            </a:r>
            <a:r>
              <a:rPr lang="en-US" altLang="zh-CN"/>
              <a:t> “</a:t>
            </a:r>
            <a:r>
              <a:rPr lang="zh-CN" altLang="en-US"/>
              <a:t>噪声样本</a:t>
            </a:r>
            <a:r>
              <a:rPr lang="en-US" altLang="zh-CN"/>
              <a:t>” </a:t>
            </a:r>
            <a:r>
              <a:rPr lang="zh-CN" altLang="en-US"/>
              <a:t>干扰（过拟合）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K </a:t>
            </a:r>
            <a:r>
              <a:rPr lang="zh-CN" altLang="en-US"/>
              <a:t>太大：易忽略</a:t>
            </a:r>
            <a:r>
              <a:rPr lang="en-US" altLang="zh-CN"/>
              <a:t> “</a:t>
            </a:r>
            <a:r>
              <a:rPr lang="zh-CN" altLang="en-US"/>
              <a:t>局部特征</a:t>
            </a:r>
            <a:r>
              <a:rPr lang="en-US" altLang="zh-CN"/>
              <a:t>”</a:t>
            </a:r>
            <a:r>
              <a:rPr lang="zh-CN" altLang="en-US"/>
              <a:t>（欠拟合）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常用选择：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7</a:t>
            </a:r>
            <a:r>
              <a:rPr lang="zh-CN" altLang="en-US"/>
              <a:t>（可通过交叉验证确定最优</a:t>
            </a:r>
            <a:r>
              <a:rPr lang="en-US" altLang="zh-CN"/>
              <a:t> K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/>
          </a:p>
          <a:p>
            <a:pPr indent="0">
              <a:buFont typeface="Arial" panose="020B0604020202090204" pitchFamily="34" charset="0"/>
              <a:buNone/>
            </a:pPr>
            <a:r>
              <a:rPr lang="en-US" altLang="zh-CN" sz="2000" b="1"/>
              <a:t>距离度量</a:t>
            </a:r>
            <a:r>
              <a:rPr lang="en-US" altLang="zh-CN" b="1">
                <a:sym typeface="+mn-ea"/>
              </a:rPr>
              <a:t>：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欧氏距离（适用于连续特征，如</a:t>
            </a:r>
            <a:r>
              <a:rPr lang="en-US" altLang="zh-CN"/>
              <a:t> “</a:t>
            </a:r>
            <a:r>
              <a:rPr lang="zh-CN" altLang="en-US"/>
              <a:t>坐标类数据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曼哈顿距离（适用于高维数据或</a:t>
            </a:r>
            <a:r>
              <a:rPr lang="en-US" altLang="zh-CN"/>
              <a:t> “</a:t>
            </a:r>
            <a:r>
              <a:rPr lang="zh-CN" altLang="en-US"/>
              <a:t>网格类数据</a:t>
            </a:r>
            <a:r>
              <a:rPr lang="en-US" altLang="zh-CN"/>
              <a:t>”</a:t>
            </a:r>
            <a:r>
              <a:rPr lang="zh-CN" altLang="en-US"/>
              <a:t>，如</a:t>
            </a:r>
            <a:r>
              <a:rPr lang="en-US" altLang="zh-CN"/>
              <a:t> “</a:t>
            </a:r>
            <a:r>
              <a:rPr lang="zh-CN" altLang="en-US"/>
              <a:t>街道地址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COMMONDATA" val="eyJoZGlkIjoiYTVmZmQwMjhiYWNmZDMyZjFhOWM5YTljYzM0ODEyOW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WPS 演示</Application>
  <PresentationFormat>宽屏</PresentationFormat>
  <Paragraphs>44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思源黑体 CN Medium</vt:lpstr>
      <vt:lpstr>汉仪中黑KW</vt:lpstr>
      <vt:lpstr>黑体</vt:lpstr>
      <vt:lpstr>微软雅黑</vt:lpstr>
      <vt:lpstr>汉仪旗黑</vt:lpstr>
      <vt:lpstr>宋体</vt:lpstr>
      <vt:lpstr>Arial Unicode MS</vt:lpstr>
      <vt:lpstr>Calibri</vt:lpstr>
      <vt:lpstr>汉仪书宋二KW</vt:lpstr>
      <vt:lpstr>微软雅黑</vt:lpstr>
      <vt:lpstr>思源黑体 CN Medium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WPS_1699434291</cp:lastModifiedBy>
  <cp:revision>192</cp:revision>
  <dcterms:created xsi:type="dcterms:W3CDTF">2025-09-24T02:45:31Z</dcterms:created>
  <dcterms:modified xsi:type="dcterms:W3CDTF">2025-09-24T02:45:31Z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2052-12.1.21861.21861</vt:lpwstr>
  </property>
  <property fmtid="{D5CDD505-2E9C-101B-9397-08002B2CF9AE}" pid="3" name="ICV">
    <vt:lpwstr>7BEECA3F6A0C005DFA55D368BC14A50E_41</vt:lpwstr>
  </property>
  <property fmtid="{D5CDD505-2E9C-101B-9397-08002B2CF9AE}" pid="4" name="KSOTemplateUUID">
    <vt:lpwstr>v1.0_mb_RfadW62Y0Sri9V50bTlOKg==</vt:lpwstr>
  </property>
</Properties>
</file>